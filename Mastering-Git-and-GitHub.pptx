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Lora" pitchFamily="2" charset="0"/>
      <p:regular r:id="rId37"/>
    </p:embeddedFont>
    <p:embeddedFont>
      <p:font typeface="Source Sans 3" panose="020B0604020202020204" charset="0"/>
      <p:regular r:id="rId38"/>
    </p:embeddedFont>
    <p:embeddedFont>
      <p:font typeface="Source Sans 3 Bold" panose="020B0604020202020204" charset="0"/>
      <p:regular r:id="rId3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0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760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97931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Mastering Git &amp; GitHub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865140"/>
            <a:ext cx="6223638" cy="1485999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First commit to collaboration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Practical, hands-on approach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Version control fundamentals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workflows &amp; branching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8086" y="4575473"/>
            <a:ext cx="1517711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17740" y="4635302"/>
            <a:ext cx="1887986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315509" y="4575473"/>
            <a:ext cx="465225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435164" y="4635302"/>
            <a:ext cx="83550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880447" y="4575473"/>
            <a:ext cx="766049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000102" y="4635302"/>
            <a:ext cx="1136324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49066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We'll Cover Today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476302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2789932"/>
            <a:ext cx="5298049" cy="2540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98086" y="2940447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Version Control Basics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086" y="3353395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Git, GitHub, why they matter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195560" y="2476302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95560" y="2789932"/>
            <a:ext cx="5298049" cy="2540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95560" y="2940447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Setting Up Git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95560" y="3353395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Install, configure, hands-on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98086" y="4021534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4315222"/>
            <a:ext cx="5298049" cy="2540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98086" y="4485680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Git Skills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8086" y="4898628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Branch, merge, stash, rebase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195560" y="4021534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195560" y="4315222"/>
            <a:ext cx="5298049" cy="2540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95560" y="4485680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GitHub &amp; Teams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95560" y="4898628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Remotes, Desktop, VS Code, workflows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16574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 Lost Your Work?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051572"/>
            <a:ext cx="6223638" cy="1097062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Accidentally deleted a file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Overwrote working code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way to go back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269971" y="4372967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Version control is your safety net.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0905"/>
            <a:ext cx="10795524" cy="540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Git?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72" y="1556742"/>
            <a:ext cx="6173038" cy="4539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3103" y="2860179"/>
            <a:ext cx="3486757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</a:t>
            </a: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distributed version control system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by Linus Torvalds (2005).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013103" y="3577828"/>
            <a:ext cx="3486757" cy="1308298"/>
          </a:xfrm>
          <a:prstGeom prst="rect">
            <a:avLst/>
          </a:prstGeom>
          <a:noFill/>
          <a:ln/>
        </p:spPr>
        <p:txBody>
          <a:bodyPr wrap="square" lIns="0" tIns="73558" rIns="0" bIns="0" rtlCol="0" anchor="t">
            <a:normAutofit/>
          </a:bodyPr>
          <a:lstStyle/>
          <a:p>
            <a:pPr marL="284480" indent="-284480" algn="l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Tracks every code change</a:t>
            </a:r>
            <a:endParaRPr lang="en-US" sz="1400" dirty="0"/>
          </a:p>
          <a:p>
            <a:pPr marL="284480" indent="-284480" algn="l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Revert to any previous state</a:t>
            </a:r>
            <a:endParaRPr lang="en-US" sz="1400" dirty="0"/>
          </a:p>
          <a:p>
            <a:pPr marL="284480" indent="-284480" algn="l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fully offline</a:t>
            </a:r>
            <a:endParaRPr lang="en-US" sz="1400" dirty="0"/>
          </a:p>
          <a:p>
            <a:pPr marL="284480" indent="-284480" algn="l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Free and open source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Centralised vs Distributed VCS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23836" y="3136900"/>
            <a:ext cx="2613158" cy="1616808"/>
          </a:xfrm>
          <a:prstGeom prst="roundRect">
            <a:avLst>
              <a:gd name="adj" fmla="val 1572"/>
            </a:avLst>
          </a:prstGeom>
          <a:solidFill>
            <a:srgbClr val="252833"/>
          </a:solidFill>
          <a:ln w="1270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336249" y="3249315"/>
            <a:ext cx="23883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Centralised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336249" y="3612951"/>
            <a:ext cx="2388334" cy="530721"/>
          </a:xfrm>
          <a:prstGeom prst="rect">
            <a:avLst/>
          </a:prstGeom>
          <a:noFill/>
          <a:ln/>
        </p:spPr>
        <p:txBody>
          <a:bodyPr wrap="square" lIns="0" tIns="39896" rIns="0" bIns="0" rtlCol="0" anchor="t">
            <a:no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 central server</a:t>
            </a:r>
            <a:endParaRPr lang="en-US" sz="140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Network always required</a:t>
            </a:r>
            <a:endParaRPr lang="en-US" sz="140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point of failure</a:t>
            </a:r>
            <a:endParaRPr lang="en-US" sz="140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e.g. SVN, CVS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886801" y="3136900"/>
            <a:ext cx="2613158" cy="1616808"/>
          </a:xfrm>
          <a:prstGeom prst="roundRect">
            <a:avLst>
              <a:gd name="adj" fmla="val 1572"/>
            </a:avLst>
          </a:prstGeom>
          <a:solidFill>
            <a:srgbClr val="252833"/>
          </a:solidFill>
          <a:ln w="1270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999213" y="3249315"/>
            <a:ext cx="23883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Distributed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999213" y="3612950"/>
            <a:ext cx="2388334" cy="530721"/>
          </a:xfrm>
          <a:prstGeom prst="rect">
            <a:avLst/>
          </a:prstGeom>
          <a:noFill/>
          <a:ln/>
        </p:spPr>
        <p:txBody>
          <a:bodyPr wrap="square" lIns="0" tIns="39896" rIns="0" bIns="0" rtlCol="0" anchor="t">
            <a:no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copy on every machine</a:t>
            </a:r>
            <a:endParaRPr lang="en-US" sz="140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fully offline</a:t>
            </a:r>
            <a:endParaRPr lang="en-US" sz="140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single point of failure</a:t>
            </a:r>
            <a:endParaRPr lang="en-US" sz="140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e.g. Git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47072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 vs GitHub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456359"/>
            <a:ext cx="10795524" cy="1908870"/>
          </a:xfrm>
          <a:prstGeom prst="roundRect">
            <a:avLst>
              <a:gd name="adj" fmla="val 15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98086" y="2456359"/>
            <a:ext cx="5397762" cy="1908870"/>
          </a:xfrm>
          <a:custGeom>
            <a:avLst/>
            <a:gdLst/>
            <a:ahLst/>
            <a:cxnLst/>
            <a:rect l="l" t="t" r="r" b="b"/>
            <a:pathLst>
              <a:path w="5397762" h="1908870">
                <a:moveTo>
                  <a:pt x="24935" y="0"/>
                </a:moveTo>
                <a:lnTo>
                  <a:pt x="5397762" y="0"/>
                </a:lnTo>
                <a:lnTo>
                  <a:pt x="5397762" y="1908870"/>
                </a:lnTo>
                <a:lnTo>
                  <a:pt x="24935" y="1908870"/>
                </a:lnTo>
                <a:arcTo wR="24935" hR="24935" stAng="5400000" swAng="5400000"/>
                <a:lnTo>
                  <a:pt x="0" y="24935"/>
                </a:lnTo>
                <a:arcTo wR="24935" hR="24935" stAng="10800000" swAng="5400000"/>
                <a:close/>
              </a:path>
            </a:pathLst>
          </a:cu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97510" y="2655788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7510" y="3068737"/>
            <a:ext cx="4998912" cy="1097062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Runs locally on your machine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Tracks file history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internet required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95848" y="2456359"/>
            <a:ext cx="5397762" cy="1908870"/>
          </a:xfrm>
          <a:custGeom>
            <a:avLst/>
            <a:gdLst/>
            <a:ahLst/>
            <a:cxnLst/>
            <a:rect l="l" t="t" r="r" b="b"/>
            <a:pathLst>
              <a:path w="5397762" h="1908870">
                <a:moveTo>
                  <a:pt x="0" y="0"/>
                </a:moveTo>
                <a:lnTo>
                  <a:pt x="5372827" y="0"/>
                </a:lnTo>
                <a:arcTo wR="24935" hR="24935" stAng="16200000" swAng="5400000"/>
                <a:lnTo>
                  <a:pt x="5397762" y="1883934"/>
                </a:lnTo>
                <a:arcTo wR="24935" hR="24935" stAng="0" swAng="5400000"/>
                <a:lnTo>
                  <a:pt x="0" y="1908870"/>
                </a:lnTo>
                <a:lnTo>
                  <a:pt x="0" y="0"/>
                </a:lnTo>
                <a:close/>
              </a:path>
            </a:pathLst>
          </a:cu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95848" y="2456359"/>
            <a:ext cx="25399" cy="1908870"/>
          </a:xfrm>
          <a:prstGeom prst="roundRect">
            <a:avLst>
              <a:gd name="adj" fmla="val 50001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95272" y="2655788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GitHub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5272" y="3068737"/>
            <a:ext cx="4998912" cy="1097062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 hosting for repos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collaboration tools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Pull requests &amp; Actions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98086" y="4589562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7906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10" y="4880173"/>
            <a:ext cx="249330" cy="19943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46266" y="4838799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= the engine. GitHub = the garage.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329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Installing Git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616696"/>
            <a:ext cx="5718528" cy="25103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8171" y="4538059"/>
            <a:ext cx="1002401" cy="145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Download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668171" y="4727821"/>
            <a:ext cx="1002401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git-scm.com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482605" y="4499504"/>
            <a:ext cx="1002401" cy="145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Verify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482605" y="4689266"/>
            <a:ext cx="1002401" cy="123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--version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083650" y="2879942"/>
            <a:ext cx="1002401" cy="145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Install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083650" y="3069704"/>
            <a:ext cx="1002401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 &amp; accept defaults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909520" y="1783457"/>
            <a:ext cx="2195458" cy="2307927"/>
          </a:xfrm>
          <a:prstGeom prst="roundRect">
            <a:avLst>
              <a:gd name="adj" fmla="val 1363"/>
            </a:avLst>
          </a:prstGeom>
          <a:solidFill>
            <a:srgbClr val="252833"/>
          </a:solidFill>
          <a:ln w="25399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134344" y="2008287"/>
            <a:ext cx="174580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Windows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134344" y="2501007"/>
            <a:ext cx="1745809" cy="1346498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Download from git-scm.com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Includes Git Bash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9304402" y="1783457"/>
            <a:ext cx="2195458" cy="2307927"/>
          </a:xfrm>
          <a:prstGeom prst="roundRect">
            <a:avLst>
              <a:gd name="adj" fmla="val 1363"/>
            </a:avLst>
          </a:prstGeom>
          <a:solidFill>
            <a:srgbClr val="252833"/>
          </a:solidFill>
          <a:ln w="25399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529226" y="2008287"/>
            <a:ext cx="174580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macOS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529226" y="2501007"/>
            <a:ext cx="1745809" cy="1365548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git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 Xcode Command Line Tools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909520" y="4290814"/>
            <a:ext cx="4590340" cy="1669554"/>
          </a:xfrm>
          <a:prstGeom prst="roundRect">
            <a:avLst>
              <a:gd name="adj" fmla="val 1792"/>
            </a:avLst>
          </a:prstGeom>
          <a:solidFill>
            <a:srgbClr val="252833"/>
          </a:solidFill>
          <a:ln w="25399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134344" y="4515644"/>
            <a:ext cx="414069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Linux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134344" y="5008364"/>
            <a:ext cx="4140692" cy="727174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git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Ubuntu / Debian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1986062"/>
            <a:ext cx="4372362" cy="28858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353840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First-Time Git Configuration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698086" y="2826345"/>
            <a:ext cx="6223638" cy="1356420"/>
          </a:xfrm>
          <a:prstGeom prst="roundRect">
            <a:avLst>
              <a:gd name="adj" fmla="val 2206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37395" y="3025775"/>
            <a:ext cx="574501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"Your Name"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"you@example.com"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core.editor "code --wait"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98086" y="4407098"/>
            <a:ext cx="6223638" cy="1097062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Sets your identity for all commits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Stored globally — configure once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Editor opens for commit messages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3550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Git Works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721148"/>
            <a:ext cx="5397762" cy="7979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7510" y="2718495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Working Directory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97510" y="3131443"/>
            <a:ext cx="4998912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Edit &amp; write files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721148"/>
            <a:ext cx="5397762" cy="7979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95272" y="2718495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Staging Area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295272" y="3131443"/>
            <a:ext cx="4998912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Files queued to commit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3650059"/>
            <a:ext cx="5397762" cy="7979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7510" y="4647406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Local Repository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97510" y="5060355"/>
            <a:ext cx="4998912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Snapshots stored locally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650059"/>
            <a:ext cx="5397762" cy="79791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95272" y="4647406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Remote Repository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295272" y="5060355"/>
            <a:ext cx="4998912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Shared via GitHub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98086" y="5803305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stores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snapshots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not differences — each commit is a full project picture.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841077"/>
            <a:ext cx="1235342" cy="303113"/>
          </a:xfrm>
          <a:prstGeom prst="roundRect">
            <a:avLst>
              <a:gd name="adj" fmla="val 7897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7740" y="900906"/>
            <a:ext cx="160561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HANDS-ON GIT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22396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Single User Setup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698086" y="2334121"/>
            <a:ext cx="5154484" cy="2313980"/>
          </a:xfrm>
          <a:prstGeom prst="roundRect">
            <a:avLst>
              <a:gd name="adj" fmla="val 1293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7395" y="2533551"/>
            <a:ext cx="4675864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my-project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my-project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index.html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"Initial commit"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345476" y="2334121"/>
            <a:ext cx="448755" cy="448766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29016" y="2382441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93656" y="2402681"/>
            <a:ext cx="45063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Initialise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93656" y="2895402"/>
            <a:ext cx="4506304" cy="33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Creates hidden </a:t>
            </a: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folder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345476" y="3632597"/>
            <a:ext cx="448755" cy="448766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29016" y="368091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93656" y="3701157"/>
            <a:ext cx="45063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93656" y="4193877"/>
            <a:ext cx="45063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Moves files to staging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345476" y="4912023"/>
            <a:ext cx="448755" cy="448766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29016" y="4960342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93656" y="4980583"/>
            <a:ext cx="45063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93656" y="5473303"/>
            <a:ext cx="45063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Saves a snapshot locally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7516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Ignoring Files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379041"/>
            <a:ext cx="6372562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Files that should </a:t>
            </a:r>
            <a:r>
              <a:rPr lang="en-US" sz="12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never</a:t>
            </a: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be tracked: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721445"/>
            <a:ext cx="5762977" cy="773708"/>
          </a:xfrm>
          <a:prstGeom prst="rect">
            <a:avLst/>
          </a:prstGeom>
          <a:noFill/>
          <a:ln/>
        </p:spPr>
        <p:txBody>
          <a:bodyPr wrap="square" lIns="0" tIns="63584" rIns="0" bIns="0" rtlCol="0" anchor="t">
            <a:normAutofit/>
          </a:bodyPr>
          <a:lstStyle/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API keys &amp; secrets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outputs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OS &amp; editor files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98086" y="2609155"/>
            <a:ext cx="637256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a </a:t>
            </a:r>
            <a:r>
              <a:rPr lang="en-US" sz="12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your project root: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8086" y="2992735"/>
            <a:ext cx="5762977" cy="3115171"/>
          </a:xfrm>
          <a:prstGeom prst="roundRect">
            <a:avLst>
              <a:gd name="adj" fmla="val 765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88779" y="3151684"/>
            <a:ext cx="5381590" cy="2797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Dependencies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node_modules/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output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/dist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Environment variables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.DS_Store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5150" y="1407517"/>
            <a:ext cx="4644710" cy="1192213"/>
          </a:xfrm>
          <a:prstGeom prst="roundRect">
            <a:avLst>
              <a:gd name="adj" fmla="val 2000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033144" y="1585516"/>
            <a:ext cx="4288722" cy="240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💡</a:t>
            </a: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Pro Tip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033144" y="1952228"/>
            <a:ext cx="4288722" cy="469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 provides ready-made </a:t>
            </a:r>
            <a:r>
              <a:rPr lang="en-US" sz="12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templates for most languages &amp; frameworks.</a:t>
            </a:r>
            <a:endParaRPr lang="en-US" sz="12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150" y="2742208"/>
            <a:ext cx="4644710" cy="27566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3874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Tracking Empty Directories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224385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tracks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files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not folders — empty directories are invisible to Git.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767905"/>
            <a:ext cx="5298049" cy="28513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507" y="2992735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24507" y="3405684"/>
            <a:ext cx="4746804" cy="1116112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Need </a:t>
            </a: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logs/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 </a:t>
            </a: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uploads/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repo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ignores empty folders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Folder won't appear in commits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5560" y="2767905"/>
            <a:ext cx="5298049" cy="28513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21981" y="2992735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Fix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521981" y="3405684"/>
            <a:ext cx="4746804" cy="727174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 </a:t>
            </a: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.gitkeep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file inside the folder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Convention only — not a Git feature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521981" y="4357191"/>
            <a:ext cx="4746804" cy="1037233"/>
          </a:xfrm>
          <a:prstGeom prst="roundRect">
            <a:avLst>
              <a:gd name="adj" fmla="val 2885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6761291" y="4556621"/>
            <a:ext cx="426818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logs/.gitkeep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logs/.gitkeep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647130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Branching in Git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532955"/>
            <a:ext cx="6223638" cy="1097062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 without touching main codebase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Isolate features and bug fixes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Merge back when ready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8086" y="3854351"/>
            <a:ext cx="6223638" cy="1356420"/>
          </a:xfrm>
          <a:prstGeom prst="roundRect">
            <a:avLst>
              <a:gd name="adj" fmla="val 2206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37395" y="4053780"/>
            <a:ext cx="574501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feature/login   # create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feature/login   # switch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feature/login # both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Working with Branches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04" y="941586"/>
            <a:ext cx="10622887" cy="60115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29846" y="1695742"/>
            <a:ext cx="2285937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 Branch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29846" y="2067688"/>
            <a:ext cx="3724432" cy="1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 feature branch locally.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475743" y="2881754"/>
            <a:ext cx="2285938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Commit Changes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37248" y="3253700"/>
            <a:ext cx="3724433" cy="1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Commits on feature branch.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29846" y="4070802"/>
            <a:ext cx="2285937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Switch to Main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29846" y="4442748"/>
            <a:ext cx="3724432" cy="1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 to main branch.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477430" y="5258332"/>
            <a:ext cx="2285938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Merge Branch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38935" y="5630278"/>
            <a:ext cx="3724433" cy="1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Merge feature into main.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98086" y="7009209"/>
            <a:ext cx="10795524" cy="678061"/>
          </a:xfrm>
          <a:prstGeom prst="roundRect">
            <a:avLst>
              <a:gd name="adj" fmla="val 2206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17740" y="7108924"/>
            <a:ext cx="10556214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feature/login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feature/login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8114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Merge Conflicts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891308"/>
            <a:ext cx="5718528" cy="396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09520" y="1996877"/>
            <a:ext cx="519992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Occurs when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two branches change the same line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09520" y="2540397"/>
            <a:ext cx="4590340" cy="1994793"/>
          </a:xfrm>
          <a:prstGeom prst="roundRect">
            <a:avLst>
              <a:gd name="adj" fmla="val 1500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148830" y="2739827"/>
            <a:ext cx="4111721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console.log("Hello");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console.log("Hi there");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feature/login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909520" y="4759523"/>
            <a:ext cx="4590340" cy="1097062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Edit file — keep desired change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 conflict markers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Stage and commit resolved file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4018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Stashing in Git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825823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Switch branches without committing —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stash it.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2369344"/>
            <a:ext cx="3465525" cy="598388"/>
          </a:xfrm>
          <a:prstGeom prst="roundRect">
            <a:avLst>
              <a:gd name="adj" fmla="val 49999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1280" y="2518966"/>
            <a:ext cx="299137" cy="2991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7510" y="3167162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Stash changes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7510" y="3580110"/>
            <a:ext cx="3066676" cy="33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363035" y="2369344"/>
            <a:ext cx="3465525" cy="598388"/>
          </a:xfrm>
          <a:prstGeom prst="roundRect">
            <a:avLst>
              <a:gd name="adj" fmla="val 49999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6229" y="2518966"/>
            <a:ext cx="299137" cy="2991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62460" y="3167162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 other work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62460" y="3580110"/>
            <a:ext cx="306667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Switch branches, fix bugs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8027985" y="2369344"/>
            <a:ext cx="3465624" cy="598388"/>
          </a:xfrm>
          <a:prstGeom prst="roundRect">
            <a:avLst>
              <a:gd name="adj" fmla="val 49999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1179" y="2518966"/>
            <a:ext cx="299137" cy="29914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7410" y="3167162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Restore stash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27410" y="3580110"/>
            <a:ext cx="3066775" cy="33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pop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98086" y="4342110"/>
            <a:ext cx="10795524" cy="1675606"/>
          </a:xfrm>
          <a:prstGeom prst="roundRect">
            <a:avLst>
              <a:gd name="adj" fmla="val 1786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937395" y="4541540"/>
            <a:ext cx="10316904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          # save current changes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list      # view all stashes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pop       # apply latest stash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apply stash@{2}  # apply specific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8941"/>
            <a:ext cx="10795524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 Tags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66" y="1250156"/>
            <a:ext cx="4917754" cy="49178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30048" y="2357239"/>
            <a:ext cx="527939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Tags mark </a:t>
            </a:r>
            <a:r>
              <a:rPr lang="en-US" sz="11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specific points in history</a:t>
            </a: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typically release versions.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830048" y="2659261"/>
            <a:ext cx="2285645" cy="1140420"/>
          </a:xfrm>
          <a:prstGeom prst="roundRect">
            <a:avLst>
              <a:gd name="adj" fmla="val 1845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989290" y="2818507"/>
            <a:ext cx="1967161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Lightweight Tag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989290" y="3135610"/>
            <a:ext cx="1967161" cy="504825"/>
          </a:xfrm>
          <a:prstGeom prst="roundRect">
            <a:avLst>
              <a:gd name="adj" fmla="val 4168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157561" y="3275806"/>
            <a:ext cx="1630619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v1.0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214215" y="2659261"/>
            <a:ext cx="2285645" cy="1140420"/>
          </a:xfrm>
          <a:prstGeom prst="roundRect">
            <a:avLst>
              <a:gd name="adj" fmla="val 1845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373457" y="2818507"/>
            <a:ext cx="1967161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Annotated Tag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373457" y="3135610"/>
            <a:ext cx="1967161" cy="504825"/>
          </a:xfrm>
          <a:prstGeom prst="roundRect">
            <a:avLst>
              <a:gd name="adj" fmla="val 4168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541728" y="3275806"/>
            <a:ext cx="1630619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-a v1.0 -m "msg"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30048" y="3898205"/>
            <a:ext cx="4669812" cy="1140420"/>
          </a:xfrm>
          <a:prstGeom prst="roundRect">
            <a:avLst>
              <a:gd name="adj" fmla="val 1845"/>
            </a:avLst>
          </a:prstGeom>
          <a:solidFill>
            <a:srgbClr val="252833"/>
          </a:solidFill>
          <a:ln w="1905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989290" y="4057452"/>
            <a:ext cx="4351328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Push Tags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989290" y="4374555"/>
            <a:ext cx="4351328" cy="504825"/>
          </a:xfrm>
          <a:prstGeom prst="roundRect">
            <a:avLst>
              <a:gd name="adj" fmla="val 4168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157561" y="4514751"/>
            <a:ext cx="4014786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--tags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 Rebase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23836" y="2829024"/>
            <a:ext cx="5276123" cy="518517"/>
          </a:xfrm>
          <a:prstGeom prst="roundRect">
            <a:avLst>
              <a:gd name="adj" fmla="val 2885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343491" y="2928739"/>
            <a:ext cx="5036813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feature/login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 main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3836" y="3403600"/>
            <a:ext cx="2613158" cy="677962"/>
          </a:xfrm>
          <a:prstGeom prst="roundRect">
            <a:avLst>
              <a:gd name="adj" fmla="val 2207"/>
            </a:avLst>
          </a:prstGeom>
          <a:solidFill>
            <a:srgbClr val="252833"/>
          </a:solidFill>
          <a:ln w="1270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336249" y="3516015"/>
            <a:ext cx="23883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36249" y="3712468"/>
            <a:ext cx="2388334" cy="256679"/>
          </a:xfrm>
          <a:prstGeom prst="rect">
            <a:avLst/>
          </a:prstGeom>
          <a:noFill/>
          <a:ln/>
        </p:spPr>
        <p:txBody>
          <a:bodyPr wrap="square" lIns="0" tIns="39896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Preserves full history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Creates merge commit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8886801" y="3403600"/>
            <a:ext cx="2613158" cy="677962"/>
          </a:xfrm>
          <a:prstGeom prst="roundRect">
            <a:avLst>
              <a:gd name="adj" fmla="val 2207"/>
            </a:avLst>
          </a:prstGeom>
          <a:solidFill>
            <a:srgbClr val="252833"/>
          </a:solidFill>
          <a:ln w="1270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999213" y="3516015"/>
            <a:ext cx="23883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Rebase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999213" y="3712468"/>
            <a:ext cx="2388334" cy="256679"/>
          </a:xfrm>
          <a:prstGeom prst="rect">
            <a:avLst/>
          </a:prstGeom>
          <a:noFill/>
          <a:ln/>
        </p:spPr>
        <p:txBody>
          <a:bodyPr wrap="square" lIns="0" tIns="39896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Linear, cleaner log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Rewrites commit history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223836" y="4137620"/>
            <a:ext cx="5276123" cy="259159"/>
          </a:xfrm>
          <a:prstGeom prst="roundRect">
            <a:avLst>
              <a:gd name="adj" fmla="val 5773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549" y="4213920"/>
            <a:ext cx="124616" cy="997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47877" y="4207371"/>
            <a:ext cx="546195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Never rebase already-pushed shared commits.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1758255"/>
            <a:ext cx="766049" cy="303113"/>
          </a:xfrm>
          <a:prstGeom prst="roundRect">
            <a:avLst>
              <a:gd name="adj" fmla="val 7897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389626" y="1818084"/>
            <a:ext cx="1136324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69971" y="214114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Hosting Your Repo on GitHub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5269971" y="3613646"/>
            <a:ext cx="6223638" cy="1485999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Push local commits to the cloud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 code with your team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Collaborate via pull requests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an offsite backup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8701"/>
            <a:ext cx="10795524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Connecting Local to GitHub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305" y="1260574"/>
            <a:ext cx="8395085" cy="38422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26457" y="4199348"/>
            <a:ext cx="1576113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Push Commits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0123" y="4199348"/>
            <a:ext cx="1576113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 Remote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364585" y="4199348"/>
            <a:ext cx="1576113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Copy URL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345865" y="4199348"/>
            <a:ext cx="1576113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 Repo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98086" y="5239742"/>
            <a:ext cx="10795524" cy="1059557"/>
          </a:xfrm>
          <a:prstGeom prst="roundRect">
            <a:avLst>
              <a:gd name="adj" fmla="val 2206"/>
            </a:avLst>
          </a:prstGeom>
          <a:solidFill>
            <a:srgbClr val="323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85009" y="5395516"/>
            <a:ext cx="10421677" cy="748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https://github.com/user/repo.git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00451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Essential Remote Commands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990155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6077" y="2990155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 push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6077" y="3403104"/>
            <a:ext cx="452505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 commits to GitHub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0463" y="2990155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68455" y="2990155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 pull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968455" y="3403104"/>
            <a:ext cx="452515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Fetch &amp; merge remote changes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4121249"/>
            <a:ext cx="498661" cy="498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46077" y="4121249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 clone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446077" y="4534198"/>
            <a:ext cx="452505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Download a full repo copy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0463" y="4121249"/>
            <a:ext cx="498661" cy="4986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68455" y="4121249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 fetch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968455" y="4534198"/>
            <a:ext cx="452515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Download changes, no merge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513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GitHub Desktop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715294"/>
            <a:ext cx="6282672" cy="4313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73664" y="2435721"/>
            <a:ext cx="463578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Free GUI app —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 terminal needed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473664" y="2934395"/>
            <a:ext cx="4026196" cy="1874937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 diff viewer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One-click commit, push, pull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Easy branch management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Beginner-friendly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alongside the CLI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473664" y="4988818"/>
            <a:ext cx="463578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Download: </a:t>
            </a: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desktop.github.com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6459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Using Git in VS Code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774752"/>
            <a:ext cx="6846716" cy="21942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7708" y="2934395"/>
            <a:ext cx="407173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is built in — no extensions needed.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8037708" y="3433068"/>
            <a:ext cx="3462152" cy="1485999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Stage &amp; commit in sidebar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Inline diff highlighting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Branch management via UI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GitLens: blame &amp; history per line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1955701"/>
            <a:ext cx="1534975" cy="303113"/>
          </a:xfrm>
          <a:prstGeom prst="roundRect">
            <a:avLst>
              <a:gd name="adj" fmla="val 7897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389626" y="2015530"/>
            <a:ext cx="190525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MULTI-USER SETUP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69971" y="2338586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Working as a Team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5269971" y="3330377"/>
            <a:ext cx="99712" cy="99715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69108" y="3224411"/>
            <a:ext cx="268796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shared repository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506406" y="3330377"/>
            <a:ext cx="99712" cy="99715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805543" y="3224411"/>
            <a:ext cx="26880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dev on own branch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269971" y="4022626"/>
            <a:ext cx="99712" cy="99715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569108" y="3916660"/>
            <a:ext cx="268796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Merge via pull requests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506406" y="4022626"/>
            <a:ext cx="99712" cy="99715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805543" y="3916660"/>
            <a:ext cx="26880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 resolves conflicts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269971" y="4714875"/>
            <a:ext cx="99712" cy="99715"/>
          </a:xfrm>
          <a:prstGeom prst="ellipse">
            <a:avLst/>
          </a:prstGeom>
          <a:solidFill>
            <a:srgbClr val="6EB9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569108" y="4608909"/>
            <a:ext cx="59245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 history for all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4534"/>
            <a:ext cx="10795524" cy="5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Multi-User Setup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20" y="1497211"/>
            <a:ext cx="10449755" cy="3921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14221" y="4475537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Open PR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27860" y="4475537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Push Branch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352294" y="4332831"/>
            <a:ext cx="1576134" cy="57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Make Commits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76729" y="4332831"/>
            <a:ext cx="1576134" cy="57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 Feature Branch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57981" y="4475537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Clone Repo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8086" y="5629077"/>
            <a:ext cx="10795524" cy="674291"/>
          </a:xfrm>
          <a:prstGeom prst="rect">
            <a:avLst/>
          </a:prstGeom>
          <a:noFill/>
          <a:ln/>
        </p:spPr>
        <p:txBody>
          <a:bodyPr wrap="square" lIns="0" tIns="77298" rIns="0" bIns="0" rtlCol="0" anchor="t">
            <a:normAutofit/>
          </a:bodyPr>
          <a:lstStyle/>
          <a:p>
            <a:pPr marL="304800" indent="-304800" algn="l">
              <a:lnSpc>
                <a:spcPct val="1310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member works on own branch</a:t>
            </a:r>
            <a:endParaRPr lang="en-US" sz="1500" dirty="0"/>
          </a:p>
          <a:p>
            <a:pPr marL="304800" indent="-304800" algn="l">
              <a:lnSpc>
                <a:spcPct val="1310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Changes reviewed before merging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8168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Pull Requests &amp; Code Review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067322"/>
            <a:ext cx="5298049" cy="17547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27356" y="2216944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22910" y="2865140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Open a PR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22910" y="3278088"/>
            <a:ext cx="48484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Propose branch for merging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5560" y="2067322"/>
            <a:ext cx="5298049" cy="17547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24831" y="2216944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420384" y="2865140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20384" y="3278088"/>
            <a:ext cx="48484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Comment, suggest, approve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021534"/>
            <a:ext cx="5298049" cy="17547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27356" y="4171156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922910" y="4819352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 Checks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22910" y="5232301"/>
            <a:ext cx="48484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tests run</a:t>
            </a:r>
            <a:endParaRPr lang="en-US" sz="15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5560" y="4021534"/>
            <a:ext cx="5298049" cy="175478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24831" y="4171156"/>
            <a:ext cx="239310" cy="299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420384" y="4819352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Merge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420384" y="5232301"/>
            <a:ext cx="484840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Approved PR merges to main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0748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Modern Git Workflow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086323" y="1311573"/>
            <a:ext cx="19050" cy="458470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59276" y="1480840"/>
            <a:ext cx="476833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17060" y="1311573"/>
            <a:ext cx="357575" cy="357584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83684" y="1350119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98086" y="1366143"/>
            <a:ext cx="4603040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98086" y="1675904"/>
            <a:ext cx="4603040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Stable, production-ready only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586" y="2369939"/>
            <a:ext cx="476833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917060" y="2200672"/>
            <a:ext cx="357575" cy="357584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83684" y="2239218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890570" y="2255242"/>
            <a:ext cx="4603040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develop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90570" y="2565003"/>
            <a:ext cx="4603040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Features integrate here first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59276" y="3159720"/>
            <a:ext cx="476833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17060" y="2990453"/>
            <a:ext cx="357575" cy="357584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83684" y="3029000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98086" y="3045023"/>
            <a:ext cx="4603040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feature/*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8086" y="3354784"/>
            <a:ext cx="4603040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branch per feature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5586" y="3949502"/>
            <a:ext cx="476833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917060" y="3780234"/>
            <a:ext cx="357575" cy="357584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83684" y="3818781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890570" y="3834805"/>
            <a:ext cx="4603040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release/*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90570" y="4144566"/>
            <a:ext cx="4603040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Stabilise before production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59276" y="4739283"/>
            <a:ext cx="476833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917060" y="4570016"/>
            <a:ext cx="357575" cy="357584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83684" y="4608562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98086" y="4624586"/>
            <a:ext cx="4603040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hotfix/*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8086" y="4934347"/>
            <a:ext cx="4603040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Emergency fixes off main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8086" y="6038751"/>
            <a:ext cx="11405108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Git Flow</a:t>
            </a: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popular branching strategy for teams.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5437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Quick Reference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840012"/>
            <a:ext cx="10795524" cy="4163516"/>
          </a:xfrm>
          <a:prstGeom prst="roundRect">
            <a:avLst>
              <a:gd name="adj" fmla="val 719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98086" y="2420739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98086" y="3017341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98086" y="3613944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98086" y="4210546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8086" y="4807148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98086" y="5403751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03860" y="1972370"/>
            <a:ext cx="452386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Command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216990" y="1972370"/>
            <a:ext cx="668043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Purpose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03860" y="2549922"/>
            <a:ext cx="4523865" cy="33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216990" y="2549922"/>
            <a:ext cx="668043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Initialise a new repo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03860" y="3146524"/>
            <a:ext cx="4523865" cy="33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216990" y="3146524"/>
            <a:ext cx="668043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Stage all changes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03860" y="3743127"/>
            <a:ext cx="4523865" cy="33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""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216990" y="3743127"/>
            <a:ext cx="668043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Snapshot with message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03860" y="4339729"/>
            <a:ext cx="4523865" cy="33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name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216990" y="4339729"/>
            <a:ext cx="668043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&amp; switch branch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03860" y="4936331"/>
            <a:ext cx="4523865" cy="33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/ pull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216990" y="4936331"/>
            <a:ext cx="668043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Sync with remote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03860" y="5532934"/>
            <a:ext cx="4523865" cy="33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216990" y="5532934"/>
            <a:ext cx="668043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 compact history</a:t>
            </a: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5620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Common Beginner Mistakes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241848"/>
            <a:ext cx="5298049" cy="15707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507" y="2466677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Committing to main directly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4507" y="2879626"/>
            <a:ext cx="4746804" cy="708124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Always use a feature branch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main clean &amp; stable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5560" y="2241848"/>
            <a:ext cx="5298049" cy="15707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21981" y="2466677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Vague commit messages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521981" y="2879626"/>
            <a:ext cx="4746804" cy="708124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Avoid "fixed stuff" messages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 specific and descriptive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012009"/>
            <a:ext cx="5298049" cy="15897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507" y="4236839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Forgetting .gitignore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024507" y="4649788"/>
            <a:ext cx="4746804" cy="727174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Exclude </a:t>
            </a: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 up before first commit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5560" y="4012009"/>
            <a:ext cx="5298049" cy="158978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21981" y="4236839"/>
            <a:ext cx="47468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Rebasing shared branches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521981" y="4649788"/>
            <a:ext cx="4746804" cy="708124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Only rebase local branches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Never rewrite shared history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483618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You're Ready to Git Going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98086" y="2369443"/>
            <a:ext cx="3012107" cy="1130995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97510" y="2568873"/>
            <a:ext cx="26132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Practice Daily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97510" y="2981821"/>
            <a:ext cx="261325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Commit small and often.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3909617" y="2369443"/>
            <a:ext cx="3012107" cy="1130995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109042" y="2568873"/>
            <a:ext cx="26132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Branches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09042" y="2981821"/>
            <a:ext cx="261325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feature, one branch.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8086" y="3699867"/>
            <a:ext cx="6223638" cy="1130995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97510" y="3899297"/>
            <a:ext cx="58247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Read the Docs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97510" y="4312245"/>
            <a:ext cx="58247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git-scm.com · docs.github.com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93293" y="5055195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Questions? Open an issue — or raise your hand.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1234</Words>
  <Application>Microsoft Office PowerPoint</Application>
  <PresentationFormat>Widescreen</PresentationFormat>
  <Paragraphs>340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Lora</vt:lpstr>
      <vt:lpstr>Source Sans 3</vt:lpstr>
      <vt:lpstr>Consolas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Gursimran Singh</cp:lastModifiedBy>
  <cp:revision>2</cp:revision>
  <dcterms:created xsi:type="dcterms:W3CDTF">2026-08-13T20:01:35Z</dcterms:created>
  <dcterms:modified xsi:type="dcterms:W3CDTF">2026-08-13T20:19:46Z</dcterms:modified>
</cp:coreProperties>
</file>